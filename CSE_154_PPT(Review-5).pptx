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57" r:id="rId4"/>
    <p:sldId id="293" r:id="rId5"/>
    <p:sldId id="294" r:id="rId6"/>
    <p:sldId id="295" r:id="rId7"/>
    <p:sldId id="258" r:id="rId8"/>
    <p:sldId id="296" r:id="rId9"/>
    <p:sldId id="297" r:id="rId10"/>
    <p:sldId id="286" r:id="rId11"/>
    <p:sldId id="287" r:id="rId12"/>
    <p:sldId id="288" r:id="rId13"/>
    <p:sldId id="267" r:id="rId14"/>
    <p:sldId id="271" r:id="rId15"/>
    <p:sldId id="298" r:id="rId16"/>
    <p:sldId id="290" r:id="rId17"/>
    <p:sldId id="291" r:id="rId18"/>
    <p:sldId id="299" r:id="rId19"/>
    <p:sldId id="273" r:id="rId20"/>
    <p:sldId id="265" r:id="rId21"/>
    <p:sldId id="300" r:id="rId22"/>
    <p:sldId id="26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e74ywXQ3WAx+gcgni+w7nXBvl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602FFC-E6F1-48FD-B3E5-CC246D8D6623}">
  <a:tblStyle styleId="{70602FFC-E6F1-48FD-B3E5-CC246D8D6623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5F8F902-6029-4759-B95E-2553FD537B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7" d="100"/>
          <a:sy n="67" d="100"/>
        </p:scale>
        <p:origin x="6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8B7395F-549F-0AFD-2DCF-FA64EBD2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3D9853D-5159-62A7-FAAF-BADDA2C55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EDE2875-4FC1-B2ED-F5D1-1FB7C61F0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40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3ED4F64-5E2B-C8CA-12CA-621B3609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8484D20-B85B-E0E9-7F97-5493AFB93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2BC7449-9182-D15C-4EF2-5CEB58568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281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9D14E20-CDC2-D3CE-18A4-9538F2BB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C738BED-6F14-1EEB-2819-331FC30F9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0DA9FFF-0FDE-E407-9A11-525ECFA1C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4715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7980D19-8676-7EE1-9923-52617C2F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51A96F9-3F3D-AED9-CD67-9E210A35F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AF4308D-BAC5-1227-2609-B7D863CD5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0440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E877326-0F8E-E62F-9465-EEA0E442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475F5A7-437D-4E8E-93FA-631E5EC47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4CBF79C-5228-BA42-6940-13AF489D4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415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191AB95-B52D-2B6C-D389-383828B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A3221B2-AAC7-8170-74AB-D5FF080F7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F483479-7950-9572-D9CC-6101B198A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0479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1E31A4E-519E-1A97-902E-87F6DA97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E9C21F3-FACF-E57C-9C96-5C9C15980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D7DDF0E-75CD-5010-1E94-47FF61FFF4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295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3944840-8B33-25DD-E537-E3F8A371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74B5E5B-F922-1176-D17D-437432312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550C3C0-D309-1820-1968-35DB7B33F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1695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8B5ADD9-AC45-8F38-45EC-D34EEAFC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A620089-54D5-078E-EA3B-586CEF662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D1564D9-F6F8-69E3-13BB-E4A8CEC7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5472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2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2"/>
          <p:cNvPicPr preferRelativeResize="0"/>
          <p:nvPr/>
        </p:nvPicPr>
        <p:blipFill rotWithShape="1">
          <a:blip r:embed="rId11">
            <a:alphaModFix/>
          </a:blip>
          <a:srcRect b="18045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2400" dirty="0"/>
              <a:t>Smart Traffic Management System for Urban Congestion </a:t>
            </a:r>
            <a:br>
              <a:rPr lang="en-US" sz="2400" dirty="0"/>
            </a:b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US" sz="1800" dirty="0">
                <a:latin typeface="Cambria"/>
                <a:ea typeface="Cambria"/>
                <a:cs typeface="Cambria"/>
                <a:sym typeface="Cambria"/>
              </a:rPr>
              <a:t>Batch Number:</a:t>
            </a: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CSE_154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677700" y="2754072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u="sng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Under the Supervision of</a:t>
            </a: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Dr. </a:t>
            </a:r>
            <a:r>
              <a:rPr lang="en-US" sz="2000" dirty="0" err="1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Jothish</a:t>
            </a:r>
            <a:r>
              <a:rPr lang="en-US" sz="2000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 C</a:t>
            </a:r>
            <a:endParaRPr sz="1300" i="0" strike="noStrike" cap="none" dirty="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Associate Professor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sz="13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sz="13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{70602FFC-E6F1-48FD-B3E5-CC246D8D6623}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50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3079875" y="113026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ts val="1800"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CSE7302-</a:t>
            </a:r>
            <a:r>
              <a:rPr lang="en-US" sz="1800" b="1" spc="-8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University</a:t>
            </a:r>
            <a:r>
              <a:rPr lang="en-US" sz="1800" b="1" spc="-3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1" spc="-1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</a:t>
            </a:r>
            <a:endParaRPr sz="1800" b="1" i="0" u="none" strike="noStrike" cap="none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0" y="4619932"/>
            <a:ext cx="122499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CS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Computer Science and Engineering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HOD: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Asif Mohammed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Coordinator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: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Jayavadivel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 Ravi</a:t>
            </a:r>
            <a:endParaRPr lang="en-US" sz="1800"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Sampath A K , Dr. Geetha A </a:t>
            </a: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3" name="Google Shape;93;p1"/>
          <p:cNvGraphicFramePr/>
          <p:nvPr>
            <p:extLst>
              <p:ext uri="{D42A27DB-BD31-4B8C-83A1-F6EECF244321}">
                <p14:modId xmlns:p14="http://schemas.microsoft.com/office/powerpoint/2010/main" val="4145367742"/>
              </p:ext>
            </p:extLst>
          </p:nvPr>
        </p:nvGraphicFramePr>
        <p:xfrm>
          <a:off x="271412" y="3175250"/>
          <a:ext cx="6037948" cy="1192520"/>
        </p:xfrm>
        <a:graphic>
          <a:graphicData uri="http://schemas.openxmlformats.org/drawingml/2006/table">
            <a:tbl>
              <a:tblPr>
                <a:noFill/>
                <a:tableStyleId>{E5F8F902-6029-4759-B95E-2553FD537B20}</a:tableStyleId>
              </a:tblPr>
              <a:tblGrid>
                <a:gridCol w="3018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8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20221CSE0235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Aduri Sai Charan Reddy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20221CSE0289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E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  </a:t>
                      </a:r>
                      <a:r>
                        <a:rPr lang="en-US" sz="1400" dirty="0" err="1"/>
                        <a:t>Mithaeghar</a:t>
                      </a:r>
                      <a:r>
                        <a:rPr lang="en-US" sz="1400" dirty="0"/>
                        <a:t> Mohammad Arif</a:t>
                      </a: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E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20221CSE0279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  </a:t>
                      </a:r>
                      <a:r>
                        <a:rPr lang="en-US" sz="1400" dirty="0" err="1"/>
                        <a:t>Thotamsetty</a:t>
                      </a:r>
                      <a:r>
                        <a:rPr lang="en-US" sz="1400" dirty="0"/>
                        <a:t> Sai Sreekar</a:t>
                      </a: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57460" y="841248"/>
            <a:ext cx="10668000" cy="593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 Analysis of Problem Statement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Existing Methods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  <a:endParaRPr lang="en-US" sz="4800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Proposed method &amp; Feasibility Study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Hardware and software details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Working Screenshot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Git hub Link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ea typeface="Cambria" panose="02040503050406030204" pitchFamily="18" charset="0"/>
                <a:cs typeface="Calibri" panose="020F0502020204030204" pitchFamily="34" charset="0"/>
              </a:rPr>
              <a:t>Timeline of the Project </a:t>
            </a:r>
            <a:endParaRPr lang="en-US" sz="4800" dirty="0">
              <a:latin typeface="+mj-lt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References 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6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Problem Statement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07884-FF29-959E-8002-7D546D99B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0C9E952-73D8-398F-8F2A-26F4B9CC8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384" y="1175771"/>
            <a:ext cx="1014380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Traffic congestion in urban areas is increasing rapidly.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Manual traffic control systems are inefficient and cannot handle real-time traffic variations.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Parking management is also not optimized, leading to wasted time and fuel.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There is a need for an intelligent system to predict congestion and manage traffic efficiently.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D3700C4-3A9D-0B84-E6E5-2DD4C531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CD8E8BF-2FC9-6F6D-4662-059A429B1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Analysis of problem Statement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E15AABC-E53B-1C4D-6D47-0A3411E04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2778E-CBD6-F243-AF70-9D5F3E2D3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7635BB9-04BE-F061-8A17-5CCD19599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237733"/>
            <a:ext cx="101586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Urban traffic is dynamic and changes frequently.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Traditional systems lack real-time decision-making capabilities.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Parking space detection is not automated in most areas.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Emergency vehicles often get delayed due to poor traffic control.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A smart AI-based system can solve these issues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47448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37CC702-5478-A582-6916-680ED528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C393851-18D3-C491-7F2F-636E5FC9D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Abstract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94B3451-E8F1-65D9-0A80-CFAFE7A3A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109" y="1289981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6CFBE-C228-5727-A931-DCB1947DA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EBE9F1-03FB-6ABF-FF85-FD7E371F2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710" y="1289981"/>
            <a:ext cx="978789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This project proposes an AI-based traffic and parking management system.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It uses machine learning to predict traffic congestion and computer vision to detect parking availability.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The system provides real-time updates and optimizes traffic signals.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It helps reduce congestion, improve vehicle movement, and support emergency routing.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20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CDF9CDA-A6E4-57F7-E259-FE9499D9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68DA6B1-C1AE-425F-91D8-293B3BC1B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Literature Survey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C14C5B99-C20D-1BEB-BA4D-E65D2F854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873019-8F79-8488-ACDE-43C5024D5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05B73C-7AB8-E522-A8AF-08D1819A8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86" y="1432551"/>
            <a:ext cx="10912983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Many existing studies use AI for traffic prediction.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Machine learning models like Random Forest are widely used for prediction tasks.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Computer vision is used for vehicle and parking detection.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However, most systems focus only on one feature and lack integration.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This project combines multiple technologies into one system.</a:t>
            </a:r>
            <a:br>
              <a:rPr lang="en-US" sz="2400" dirty="0"/>
            </a:b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43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296697" y="255086"/>
            <a:ext cx="8727768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u="sng" dirty="0">
                <a:latin typeface="Cambria"/>
                <a:ea typeface="Cambria"/>
                <a:cs typeface="Cambria"/>
                <a:sym typeface="Cambria"/>
              </a:rPr>
              <a:t> Objectives</a:t>
            </a: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629882" y="845574"/>
            <a:ext cx="10668000" cy="534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39FA3-3B8F-5F22-7D8A-21BE73B45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3111"/>
            <a:ext cx="2295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97F116-2E04-DFDD-62C1-5271FFAC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944" y="1316503"/>
            <a:ext cx="83199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Develop a traffic congestion prediction system using AI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Implement smart parking detection using computer vision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Improve traffic signal control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Provide real-time updates to users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Support emergency vehicle prioritization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D0414D3-4826-A119-C3FC-61803A44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BEE26DA-91D6-46CD-3E45-1B4D9985C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Existing Methods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2786513-A1E5-3BC8-E63D-43A7915F8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A8A5D-AE7C-8998-F963-4AF092E5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4BC230-3784-7061-7C80-79A2A684A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237" y="1473203"/>
            <a:ext cx="4830094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Manual traffic signal systems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Fixed-time traffic lights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Basic traffic monitoring systems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Manual parking management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Rule-based traffic systems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09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C00C4A6-08A9-8C5E-F99A-C5258723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A6134AF-13DF-7FE2-64FE-7D45AABCD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Drawbacks of existing methods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5F4EDA04-C2A3-51BC-F709-5403FBB31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AAC4D-DD3C-3C36-27F8-E871CD51C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C77E93-55C4-0339-768A-8AE951E18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45" y="1406808"/>
            <a:ext cx="6173523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No real-time decision making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High traffic congestion during peak hours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Manual parking causes delays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No emergency vehicle prioritization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Inefficient use of road infrastructure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94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A0189-5B52-CD64-45E9-564FDDD15D51}"/>
              </a:ext>
            </a:extLst>
          </p:cNvPr>
          <p:cNvSpPr txBox="1"/>
          <p:nvPr/>
        </p:nvSpPr>
        <p:spPr>
          <a:xfrm>
            <a:off x="3696929" y="0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  <a:spcBef>
                <a:spcPts val="0"/>
              </a:spcBef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68D3B9-1D4A-BE40-0F0D-AB029B4EC1D0}"/>
              </a:ext>
            </a:extLst>
          </p:cNvPr>
          <p:cNvSpPr txBox="1"/>
          <p:nvPr/>
        </p:nvSpPr>
        <p:spPr>
          <a:xfrm>
            <a:off x="471027" y="1117600"/>
            <a:ext cx="2418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Block Diagram: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34C9A6-A224-03C3-99D3-E7E8FB8CC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17600"/>
            <a:ext cx="7524750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74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114B4-E9CF-32EB-6860-EA2C687E1907}"/>
              </a:ext>
            </a:extLst>
          </p:cNvPr>
          <p:cNvSpPr txBox="1"/>
          <p:nvPr/>
        </p:nvSpPr>
        <p:spPr>
          <a:xfrm>
            <a:off x="1140542" y="1238864"/>
            <a:ext cx="2320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System flow chart: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848B6-7F84-97B9-C316-DF33289B0AE4}"/>
              </a:ext>
            </a:extLst>
          </p:cNvPr>
          <p:cNvSpPr txBox="1"/>
          <p:nvPr/>
        </p:nvSpPr>
        <p:spPr>
          <a:xfrm>
            <a:off x="3696930" y="-70855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  <a:spcBef>
                <a:spcPts val="0"/>
              </a:spcBef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F409E-BF1A-9057-ADA4-267ED66DD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30" y="1053526"/>
            <a:ext cx="337185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22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B41BA-2307-446C-E99A-29A55331D919}"/>
              </a:ext>
            </a:extLst>
          </p:cNvPr>
          <p:cNvSpPr txBox="1"/>
          <p:nvPr/>
        </p:nvSpPr>
        <p:spPr>
          <a:xfrm>
            <a:off x="1883664" y="-70855"/>
            <a:ext cx="7909266" cy="92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lvl="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3200" dirty="0">
                <a:solidFill>
                  <a:schemeClr val="bg2">
                    <a:lumMod val="75000"/>
                  </a:schemeClr>
                </a:solidFill>
                <a:ea typeface="Cambria" panose="02040503050406030204" pitchFamily="18" charset="0"/>
                <a:cs typeface="Calibri" panose="020F0502020204030204" pitchFamily="34" charset="0"/>
              </a:rPr>
              <a:t>Proposed method &amp; Feasibility Study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7FBC2-E9C4-188D-519E-5549299E4F41}"/>
              </a:ext>
            </a:extLst>
          </p:cNvPr>
          <p:cNvSpPr txBox="1"/>
          <p:nvPr/>
        </p:nvSpPr>
        <p:spPr>
          <a:xfrm>
            <a:off x="1249680" y="988060"/>
            <a:ext cx="85432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Proposed Method</a:t>
            </a:r>
          </a:p>
          <a:p>
            <a:r>
              <a:rPr lang="en-US" sz="2400" dirty="0"/>
              <a:t>Use AI for traffic prediction</a:t>
            </a:r>
            <a:br>
              <a:rPr lang="en-US" sz="2400" dirty="0"/>
            </a:br>
            <a:r>
              <a:rPr lang="en-US" sz="2400" dirty="0"/>
              <a:t>Use computer vision for parking detection</a:t>
            </a:r>
            <a:br>
              <a:rPr lang="en-US" sz="2400" dirty="0"/>
            </a:br>
            <a:r>
              <a:rPr lang="en-US" sz="2400" dirty="0"/>
              <a:t>Optimize signals dynamically</a:t>
            </a:r>
            <a:br>
              <a:rPr lang="en-US" sz="2400" dirty="0"/>
            </a:br>
            <a:r>
              <a:rPr lang="en-US" sz="2400" dirty="0"/>
              <a:t>Provide dashboard for monitoring</a:t>
            </a:r>
          </a:p>
          <a:p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Feasibility Study</a:t>
            </a:r>
          </a:p>
          <a:p>
            <a:r>
              <a:rPr lang="en-US" sz="2400" dirty="0"/>
              <a:t>Technically feasible using Python and ML</a:t>
            </a:r>
            <a:br>
              <a:rPr lang="en-US" sz="2400" dirty="0"/>
            </a:br>
            <a:r>
              <a:rPr lang="en-US" sz="2400" dirty="0"/>
              <a:t>Easy to use interface</a:t>
            </a:r>
            <a:br>
              <a:rPr lang="en-US" sz="2400" dirty="0"/>
            </a:br>
            <a:r>
              <a:rPr lang="en-US" sz="2400" dirty="0"/>
              <a:t>Cost-effective solution</a:t>
            </a:r>
            <a:br>
              <a:rPr lang="en-US" sz="2400" dirty="0"/>
            </a:br>
            <a:r>
              <a:rPr lang="en-US" sz="2400" dirty="0"/>
              <a:t>Can be scaled for smart cities</a:t>
            </a:r>
            <a:endParaRPr lang="en-IN" sz="2400" b="1" u="sng" dirty="0"/>
          </a:p>
          <a:p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428613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9E3D144-C6CA-EC1C-EED9-F2AD8B8E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3AE59853-2A12-BF74-FF13-B11CA4419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5446" y="771386"/>
            <a:ext cx="8727768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   </a:t>
            </a:r>
            <a:r>
              <a:rPr lang="en-US" sz="3200" dirty="0">
                <a:ea typeface="Cambria" panose="02040503050406030204" pitchFamily="18" charset="0"/>
                <a:cs typeface="Calibri" panose="020F0502020204030204" pitchFamily="34" charset="0"/>
              </a:rPr>
              <a:t>Architecture Diagram</a:t>
            </a:r>
            <a:br>
              <a:rPr lang="en-US" sz="3200" dirty="0"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618CBA-91AD-B415-4D28-BF5C136EE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54053"/>
              </p:ext>
            </p:extLst>
          </p:nvPr>
        </p:nvGraphicFramePr>
        <p:xfrm>
          <a:off x="1413164" y="1326552"/>
          <a:ext cx="5994746" cy="3289900"/>
        </p:xfrm>
        <a:graphic>
          <a:graphicData uri="http://schemas.openxmlformats.org/drawingml/2006/table">
            <a:tbl>
              <a:tblPr>
                <a:tableStyleId>{70602FFC-E6F1-48FD-B3E5-CC246D8D6623}</a:tableStyleId>
              </a:tblPr>
              <a:tblGrid>
                <a:gridCol w="5994746">
                  <a:extLst>
                    <a:ext uri="{9D8B030D-6E8A-4147-A177-3AD203B41FA5}">
                      <a16:colId xmlns:a16="http://schemas.microsoft.com/office/drawing/2014/main" val="3376330943"/>
                    </a:ext>
                  </a:extLst>
                </a:gridCol>
              </a:tblGrid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9265645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9197889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2279435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9093266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5473590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9830700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0339127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3652748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0436475"/>
                  </a:ext>
                </a:extLst>
              </a:tr>
              <a:tr h="328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802024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143F191-BB80-FD17-A2ED-5882BD4D3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942975"/>
            <a:ext cx="35623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55436D3-8F7A-F413-F26D-5345E4A1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4BBD6356-F635-1BF3-EE97-540135524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4244" y="799724"/>
            <a:ext cx="988797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Modules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9669CF2-9296-4E4A-08BB-5F942DD5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" y="1290626"/>
            <a:ext cx="4406976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Module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L</a:t>
            </a:r>
            <a:r>
              <a:rPr lang="en-US" sz="2400" dirty="0"/>
              <a:t>ogin and user management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/>
              <a:t>Traffic Prediction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lang="en-US" sz="2200" dirty="0"/>
              <a:t>Predict congestion using ML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/>
              <a:t>Parking Detection Module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en-US" sz="2200" dirty="0"/>
              <a:t>Detect available parking slots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/>
              <a:t>Signal Optimization Module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lang="en-US" sz="2200" dirty="0"/>
              <a:t>Adjust traffic signals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b="1" dirty="0"/>
              <a:t>Dashboard Module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sz="2200" dirty="0"/>
              <a:t>Display results and analytics</a:t>
            </a:r>
          </a:p>
        </p:txBody>
      </p:sp>
    </p:spTree>
    <p:extLst>
      <p:ext uri="{BB962C8B-B14F-4D97-AF65-F5344CB8AC3E}">
        <p14:creationId xmlns:p14="http://schemas.microsoft.com/office/powerpoint/2010/main" val="1479066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BDFFA91-FF92-6AFE-851E-DA87C7FD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B40B3585-4C2B-DAA5-EEA4-74A0B3FCA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4940" y="814193"/>
            <a:ext cx="988797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Hardware and Software details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715ABC-16F7-1EA8-5BD9-C4858FB65C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1064" y="942219"/>
            <a:ext cx="10249871" cy="441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Hardware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1600" dirty="0"/>
              <a:t>Computer/Laptop</a:t>
            </a:r>
            <a:br>
              <a:rPr lang="en-US" sz="1600" dirty="0"/>
            </a:br>
            <a:r>
              <a:rPr lang="en-US" sz="1600" dirty="0"/>
              <a:t>Minimum 4GB RAM</a:t>
            </a:r>
            <a:br>
              <a:rPr lang="en-US" sz="1600" dirty="0"/>
            </a:br>
            <a:r>
              <a:rPr lang="en-US" sz="1600" dirty="0"/>
              <a:t>Camera (optional for parking detection)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b="1" dirty="0"/>
              <a:t>Software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1600" dirty="0"/>
              <a:t>Python</a:t>
            </a:r>
            <a:br>
              <a:rPr lang="en-US" sz="1600" dirty="0"/>
            </a:br>
            <a:r>
              <a:rPr lang="en-US" sz="1600" dirty="0"/>
              <a:t>Flask</a:t>
            </a:r>
            <a:br>
              <a:rPr lang="en-US" sz="1600" dirty="0"/>
            </a:br>
            <a:r>
              <a:rPr lang="en-US" sz="1600" dirty="0"/>
              <a:t>OpenCV</a:t>
            </a:r>
            <a:br>
              <a:rPr lang="en-US" sz="1600" dirty="0"/>
            </a:br>
            <a:r>
              <a:rPr lang="en-US" sz="1600" dirty="0"/>
              <a:t>Scikit-learn</a:t>
            </a:r>
            <a:br>
              <a:rPr lang="en-US" sz="1600" dirty="0"/>
            </a:br>
            <a:r>
              <a:rPr lang="en-US" sz="1600" dirty="0"/>
              <a:t>HTML, CSS, JavaScript</a:t>
            </a:r>
            <a:br>
              <a:rPr lang="en-US" sz="1600" dirty="0"/>
            </a:br>
            <a:r>
              <a:rPr lang="en-US" sz="1600" dirty="0"/>
              <a:t>VS Code, GitHub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212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6E04-C38D-69F7-550B-CF49A67C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01FCD5-7956-9D5D-8543-1386D42BEDD9}"/>
              </a:ext>
            </a:extLst>
          </p:cNvPr>
          <p:cNvSpPr txBox="1"/>
          <p:nvPr/>
        </p:nvSpPr>
        <p:spPr>
          <a:xfrm>
            <a:off x="3696930" y="-70855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Working Screenshots</a:t>
            </a:r>
          </a:p>
        </p:txBody>
      </p:sp>
      <p:pic>
        <p:nvPicPr>
          <p:cNvPr id="4" name="Image 35">
            <a:extLst>
              <a:ext uri="{FF2B5EF4-FFF2-40B4-BE49-F238E27FC236}">
                <a16:creationId xmlns:a16="http://schemas.microsoft.com/office/drawing/2014/main" id="{A8DD12B2-6DBD-5ECD-A8DA-FE697035605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0993" y="1513297"/>
            <a:ext cx="5330190" cy="2912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EE763B-D5B6-E206-E50E-B3179357EFD0}"/>
              </a:ext>
            </a:extLst>
          </p:cNvPr>
          <p:cNvSpPr txBox="1"/>
          <p:nvPr/>
        </p:nvSpPr>
        <p:spPr>
          <a:xfrm>
            <a:off x="324993" y="4449420"/>
            <a:ext cx="6096000" cy="70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0265" marR="873760">
              <a:lnSpc>
                <a:spcPct val="151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</a:t>
            </a:r>
            <a:r>
              <a:rPr lang="en-US" b="1" dirty="0"/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landing page providing navigation to parking and traffic prediction features.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EEAC6-80C7-385D-7284-4B076BC7C87E}"/>
              </a:ext>
            </a:extLst>
          </p:cNvPr>
          <p:cNvSpPr txBox="1"/>
          <p:nvPr/>
        </p:nvSpPr>
        <p:spPr>
          <a:xfrm>
            <a:off x="6038088" y="4425697"/>
            <a:ext cx="6096000" cy="7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0265" marR="873760">
              <a:lnSpc>
                <a:spcPct val="151000"/>
              </a:lnSpc>
              <a:spcBef>
                <a:spcPts val="805"/>
              </a:spcBef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Page showing output of the parking</a:t>
            </a:r>
            <a:r>
              <a:rPr lang="en-US" sz="1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vacancy prediction model with slot availability.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9B4E85-6E67-EAEE-A4EE-842AC0843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45" y="1513297"/>
            <a:ext cx="5539855" cy="293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81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E64D-C363-35E4-2796-68BB33801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0C25E-C11A-E37A-8648-180020A3AF1A}"/>
              </a:ext>
            </a:extLst>
          </p:cNvPr>
          <p:cNvSpPr txBox="1"/>
          <p:nvPr/>
        </p:nvSpPr>
        <p:spPr>
          <a:xfrm>
            <a:off x="4703928" y="-47672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Screenshots</a:t>
            </a:r>
          </a:p>
        </p:txBody>
      </p:sp>
      <p:pic>
        <p:nvPicPr>
          <p:cNvPr id="3" name="Image 36">
            <a:extLst>
              <a:ext uri="{FF2B5EF4-FFF2-40B4-BE49-F238E27FC236}">
                <a16:creationId xmlns:a16="http://schemas.microsoft.com/office/drawing/2014/main" id="{BE86032D-7361-6C49-0747-D632C6A7766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0919" y="1729508"/>
            <a:ext cx="5339715" cy="2223656"/>
          </a:xfrm>
          <a:prstGeom prst="rect">
            <a:avLst/>
          </a:prstGeom>
        </p:spPr>
      </p:pic>
      <p:pic>
        <p:nvPicPr>
          <p:cNvPr id="5" name="Image 39">
            <a:extLst>
              <a:ext uri="{FF2B5EF4-FFF2-40B4-BE49-F238E27FC236}">
                <a16:creationId xmlns:a16="http://schemas.microsoft.com/office/drawing/2014/main" id="{6941FEB1-60B2-3164-0AF0-8D92C8D83D5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11368" y="1729508"/>
            <a:ext cx="5334635" cy="23951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B0125E-72A5-5167-FFC6-A541CB264D7D}"/>
              </a:ext>
            </a:extLst>
          </p:cNvPr>
          <p:cNvSpPr txBox="1"/>
          <p:nvPr/>
        </p:nvSpPr>
        <p:spPr>
          <a:xfrm>
            <a:off x="544945" y="4187042"/>
            <a:ext cx="6096000" cy="7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0265" marR="873760">
              <a:lnSpc>
                <a:spcPct val="151000"/>
              </a:lnSpc>
              <a:spcBef>
                <a:spcPts val="905"/>
              </a:spcBef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3.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</a:t>
            </a:r>
            <a:r>
              <a:rPr lang="en-US" sz="14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login</a:t>
            </a:r>
            <a:r>
              <a:rPr lang="en-US" sz="1400" spc="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interface</a:t>
            </a:r>
            <a:r>
              <a:rPr lang="en-US" sz="1400" spc="1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400" spc="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administrators</a:t>
            </a:r>
            <a:r>
              <a:rPr lang="en-US" sz="1400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400" spc="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en-US" sz="1400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management </a:t>
            </a:r>
            <a:r>
              <a:rPr lang="en-US" sz="1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functionalities.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2937C-46CA-89AB-E64F-538BC99E57E6}"/>
              </a:ext>
            </a:extLst>
          </p:cNvPr>
          <p:cNvSpPr txBox="1"/>
          <p:nvPr/>
        </p:nvSpPr>
        <p:spPr>
          <a:xfrm>
            <a:off x="5551055" y="435855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0265" marR="0">
              <a:spcBef>
                <a:spcPts val="5"/>
              </a:spcBef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4.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r>
              <a:rPr lang="en-US" sz="14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login</a:t>
            </a:r>
            <a:r>
              <a:rPr lang="en-US" sz="1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interface</a:t>
            </a:r>
            <a:r>
              <a:rPr lang="en-US" sz="14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4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</a:t>
            </a:r>
            <a:r>
              <a:rPr lang="en-US" sz="1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parking</a:t>
            </a:r>
            <a:r>
              <a:rPr lang="en-US" sz="14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traffic</a:t>
            </a:r>
            <a:r>
              <a:rPr lang="en-US" sz="14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prediction</a:t>
            </a:r>
            <a:r>
              <a:rPr lang="en-US" sz="1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304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5">
            <a:extLst>
              <a:ext uri="{FF2B5EF4-FFF2-40B4-BE49-F238E27FC236}">
                <a16:creationId xmlns:a16="http://schemas.microsoft.com/office/drawing/2014/main" id="{13FAF569-991B-2871-43B8-18B8250AA2E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1414" y="1710690"/>
            <a:ext cx="5331460" cy="2602692"/>
          </a:xfrm>
          <a:prstGeom prst="rect">
            <a:avLst/>
          </a:prstGeom>
        </p:spPr>
      </p:pic>
      <p:pic>
        <p:nvPicPr>
          <p:cNvPr id="3" name="Image 47">
            <a:extLst>
              <a:ext uri="{FF2B5EF4-FFF2-40B4-BE49-F238E27FC236}">
                <a16:creationId xmlns:a16="http://schemas.microsoft.com/office/drawing/2014/main" id="{9A542560-20DB-8245-3056-62B3AF98553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9128" y="1710689"/>
            <a:ext cx="5324475" cy="2602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B156AC-A491-C4F6-B3BF-7E7DE083CEA8}"/>
              </a:ext>
            </a:extLst>
          </p:cNvPr>
          <p:cNvSpPr txBox="1"/>
          <p:nvPr/>
        </p:nvSpPr>
        <p:spPr>
          <a:xfrm>
            <a:off x="688397" y="4313380"/>
            <a:ext cx="6096000" cy="7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0265" marR="873760">
              <a:lnSpc>
                <a:spcPct val="151000"/>
              </a:lnSpc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5.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 representation of estimated vehicle flow on different </a:t>
            </a:r>
            <a:r>
              <a:rPr lang="en-US" sz="1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routes.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009C7-FF1D-4FFD-B418-9E3FA270260E}"/>
              </a:ext>
            </a:extLst>
          </p:cNvPr>
          <p:cNvSpPr txBox="1"/>
          <p:nvPr/>
        </p:nvSpPr>
        <p:spPr>
          <a:xfrm>
            <a:off x="5616924" y="431338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0265" marR="0"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6. 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Interactive</a:t>
            </a:r>
            <a:r>
              <a:rPr lang="en-US" sz="14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map</a:t>
            </a:r>
            <a:r>
              <a:rPr lang="en-US" sz="14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showing</a:t>
            </a:r>
            <a:r>
              <a:rPr lang="en-US" sz="14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parking</a:t>
            </a:r>
            <a:r>
              <a:rPr lang="en-US" sz="14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locations</a:t>
            </a:r>
            <a:r>
              <a:rPr lang="en-US" sz="1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4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</a:t>
            </a:r>
            <a:r>
              <a:rPr lang="en-US" sz="14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traffic</a:t>
            </a:r>
            <a:r>
              <a:rPr lang="en-US" sz="14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D433B-182A-F19E-959F-3C086A0FB2D3}"/>
              </a:ext>
            </a:extLst>
          </p:cNvPr>
          <p:cNvSpPr txBox="1"/>
          <p:nvPr/>
        </p:nvSpPr>
        <p:spPr>
          <a:xfrm>
            <a:off x="4618183" y="-52834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Screenshots</a:t>
            </a:r>
          </a:p>
        </p:txBody>
      </p:sp>
    </p:spTree>
    <p:extLst>
      <p:ext uri="{BB962C8B-B14F-4D97-AF65-F5344CB8AC3E}">
        <p14:creationId xmlns:p14="http://schemas.microsoft.com/office/powerpoint/2010/main" val="2695254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4A274BD-692C-3C36-B933-42018A03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03B8733F-9939-1331-CBD2-79E44BCAA8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6852" y="839052"/>
            <a:ext cx="1259184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Timeline </a:t>
            </a:r>
            <a:r>
              <a:rPr lang="en-US" sz="3200" dirty="0">
                <a:latin typeface="Cambria"/>
                <a:ea typeface="Cambria"/>
                <a:cs typeface="Cambria"/>
                <a:sym typeface="Cambria"/>
              </a:rPr>
              <a:t>of the Project (Gantt Chart)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D43D7E31-95C7-CD19-2DB2-704BFF06B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009650"/>
            <a:ext cx="10962969" cy="584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Cambria"/>
                <a:sym typeface="Cambria"/>
              </a:rPr>
              <a:t>Gantt Chart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B839EB-41EF-3CF1-2626-737BC84DA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219172"/>
              </p:ext>
            </p:extLst>
          </p:nvPr>
        </p:nvGraphicFramePr>
        <p:xfrm>
          <a:off x="419100" y="1486182"/>
          <a:ext cx="11048994" cy="4341979"/>
        </p:xfrm>
        <a:graphic>
          <a:graphicData uri="http://schemas.openxmlformats.org/drawingml/2006/table">
            <a:tbl>
              <a:tblPr/>
              <a:tblGrid>
                <a:gridCol w="1227666">
                  <a:extLst>
                    <a:ext uri="{9D8B030D-6E8A-4147-A177-3AD203B41FA5}">
                      <a16:colId xmlns:a16="http://schemas.microsoft.com/office/drawing/2014/main" val="2573539532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536620191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3491328624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2546634336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2882573078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3501370062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3714841057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2368935465"/>
                    </a:ext>
                  </a:extLst>
                </a:gridCol>
                <a:gridCol w="1227666">
                  <a:extLst>
                    <a:ext uri="{9D8B030D-6E8A-4147-A177-3AD203B41FA5}">
                      <a16:colId xmlns:a16="http://schemas.microsoft.com/office/drawing/2014/main" val="1954199068"/>
                    </a:ext>
                  </a:extLst>
                </a:gridCol>
              </a:tblGrid>
              <a:tr h="228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Phase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1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2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3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4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5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6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7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Week 8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52899"/>
                  </a:ext>
                </a:extLst>
              </a:tr>
              <a:tr h="854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1. Requirement Gathering &amp; Analysis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716505"/>
                  </a:ext>
                </a:extLst>
              </a:tr>
              <a:tr h="69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2. Design (UI/UX &amp; Architecture)</a:t>
                      </a:r>
                      <a:endParaRPr lang="en-US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165368"/>
                  </a:ext>
                </a:extLst>
              </a:tr>
              <a:tr h="854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3. Development (Frontend &amp; Backend)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89540"/>
                  </a:ext>
                </a:extLst>
              </a:tr>
              <a:tr h="539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4. Testing &amp; Debugging</a:t>
                      </a: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19912"/>
                  </a:ext>
                </a:extLst>
              </a:tr>
              <a:tr h="854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5. Deployment &amp; Documentation</a:t>
                      </a:r>
                      <a:endParaRPr lang="en-IN" sz="1300" dirty="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/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██████</a:t>
                      </a:r>
                    </a:p>
                  </a:txBody>
                  <a:tcPr marL="83011" marR="83011" marT="41506" marB="415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888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586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90129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147484" y="988143"/>
            <a:ext cx="11895164" cy="586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[1] Al-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Heety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O.S., Zakaria, Z., Abu-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Khadrah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A., Ismail, M., Shakir, M.M., Alani, S. and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Alsariera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H., 2026. Traffic jam control with emergency conscious and reinforcement learning-based non-dominated sorting genetic algorithm. IEEE Access.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[2] Goswami, A. and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Kadao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A.K., 2025. Indian metro congestion reduction using smart traffic management systems. Next Generation Smart Systems, pp.1022–1031.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[3] Xu, Y. and Li, Y., 2025. A multi-source data fusion framework of risk field and traffic congestion prediction in real-time urban environments. IEEE Access, vol. 13.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[4]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Prathiba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S.B., Krishnamoorthy, S.R., Kannan, K.S., Selvaraj, A.K.,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Ranganayakulu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D., Fang, K. and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Gadekallu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T.R., 2025. Digital twin-powered traffic and power grid optimization system in 6G-driven smart cities in real-time. IEEE Internet of Things Journal.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[5]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Wairagade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A., Ugale, K. and Waghmare, R., 2025. Urban congestion reduction using AI-powered smart traffic management system. International Journal of Scientific Research and Engineering Trends, 11(2).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[6]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Naramdeo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K.,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Madake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S., Patil, J. and Patil, P., 2025. Smart traffic management system in urban environment. Journal of Novel Research and Innovative Development, 3(6).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[7] </a:t>
            </a:r>
            <a:r>
              <a:rPr lang="en-US" sz="1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Laanaoui</a:t>
            </a: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M.D., Lachgar, M., Mohamed, H., Hamid, H., Villar, S.G. and Ashraf, I., 2024. SETEC: Enhancing urban traffic management using real-time load balancing and anomaly detection. IEEE Access, vol. 12.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7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AAD0-12D6-2A94-F610-C7CF468D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4C5C3-E284-7622-F820-51218517F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557" y="1109950"/>
            <a:ext cx="11534659" cy="5191698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[8] Bhat, C.R., Raghunath, K.M.K., Kumar, V.V., Kannan, V.A., Mahesh, T.R., Manikandan, K. and Krishnamoorthy, N., 2024. Redefining urban traffic dynamics using TCN-FL based traffic prediction and control measures. IEEE Access, vol. 12.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[9] Fadila, J.N., Wahab, N.H.A., Alshammari, A., </a:t>
            </a:r>
            <a:r>
              <a:rPr lang="en-US" sz="3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Aqarni</a:t>
            </a: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A., Al-</a:t>
            </a:r>
            <a:r>
              <a:rPr lang="en-US" sz="3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Dhaqm</a:t>
            </a: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A. and Aziz, N., 2024. Fourth industrial revolution smart urban traffic management at scale: A comprehensive review. IEEE Access, vol. 12.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[10] Wang, C., Ma, X., Jia, L., Lai, Z., Yang, Z., Yan, H. and Zhao, J., 2024. CPS architecture development for urban roadway intersections based on MBSE. Journal of Intelligent and Connected Vehicles, 7(3), pp.190–204.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[11] Xu, H., Berres, A., </a:t>
            </a:r>
            <a:r>
              <a:rPr lang="en-US" sz="3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Yoginath</a:t>
            </a: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S.B., Sorensen, H., Nugent, P.J., Severino, J., Tennille, S.A., Moore, A., Jones, W. and Sanyal, J., 2023. Smart mobility in the cloud: Digital twin for situational awareness and cyber-physical control in real-time. IEEE Transactions on Intelligent Transportation Systems, 24(3), pp.3145–3160.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[12] Jin, J., Rong, D., Pang, Y., Ye, P., Ji, Q., Wang, X., Wang, G. and Wang, F.Y., 2022. An agent-based traffic recommendation system: Urban traffic management strategy revisiting and revising. IEEE Transactions on Systems, Man, and Cybernetics: Systems, 52(11), pp.7289–7301.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[13] Oliveira, L.F.P., Manera, L.T. and Luz, P.D.G., 2021. Smart traffic light control system with real-time observation. IEEE Internet of Things Journal, 8(5), pp.3384–3393.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[14] </a:t>
            </a:r>
            <a:r>
              <a:rPr lang="en-US" sz="35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Nagapragna</a:t>
            </a: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H. and Joshi, S.S., 2017. Smart traffic management system. Sapthagiri College of Engineering, Bangalore.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[15] Lanke, N. and Koul, S., 2013. Smart traffic management system. International Journal of Computer Applications, 75(7), pp.19–22.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02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4139" y="1702517"/>
            <a:ext cx="5621532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</TotalTime>
  <Words>1535</Words>
  <Application>Microsoft Office PowerPoint</Application>
  <PresentationFormat>Widescreen</PresentationFormat>
  <Paragraphs>223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MT</vt:lpstr>
      <vt:lpstr>Calibri</vt:lpstr>
      <vt:lpstr>Cambria</vt:lpstr>
      <vt:lpstr>Times New Roman</vt:lpstr>
      <vt:lpstr>Verdana</vt:lpstr>
      <vt:lpstr>Wingdings</vt:lpstr>
      <vt:lpstr>Bioinformatics</vt:lpstr>
      <vt:lpstr>Smart Traffic Management System for Urban Congestion  </vt:lpstr>
      <vt:lpstr>Content</vt:lpstr>
      <vt:lpstr>Problem Statement</vt:lpstr>
      <vt:lpstr>Analysis of problem Statement</vt:lpstr>
      <vt:lpstr>Abstract</vt:lpstr>
      <vt:lpstr>Literature Survey</vt:lpstr>
      <vt:lpstr> Objectives</vt:lpstr>
      <vt:lpstr>Existing Methods</vt:lpstr>
      <vt:lpstr>Drawbacks of existing methods</vt:lpstr>
      <vt:lpstr>PowerPoint Presentation</vt:lpstr>
      <vt:lpstr>PowerPoint Presentation</vt:lpstr>
      <vt:lpstr>PowerPoint Presentation</vt:lpstr>
      <vt:lpstr>       Architecture Diagram  </vt:lpstr>
      <vt:lpstr>Modules  </vt:lpstr>
      <vt:lpstr>Hardware and Software details  </vt:lpstr>
      <vt:lpstr>PowerPoint Presentation</vt:lpstr>
      <vt:lpstr>PowerPoint Presentation</vt:lpstr>
      <vt:lpstr>PowerPoint Presentation</vt:lpstr>
      <vt:lpstr>Timeline of the Project (Gantt Chart)  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Charan Reddy Aduri</cp:lastModifiedBy>
  <cp:revision>32</cp:revision>
  <dcterms:modified xsi:type="dcterms:W3CDTF">2026-04-20T18:40:05Z</dcterms:modified>
</cp:coreProperties>
</file>